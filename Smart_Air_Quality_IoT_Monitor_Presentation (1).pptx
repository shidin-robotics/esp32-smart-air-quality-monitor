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C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SMART AIR QUALITY</a:t>
            </a:r>
          </a:p>
          <a:p>
            <a:pPr>
              <a:defRPr sz="4600" b="1">
                <a:solidFill>
                  <a:srgbClr val="4CD6C7"/>
                </a:solidFill>
                <a:latin typeface="Aptos Display"/>
              </a:defRPr>
            </a:pPr>
            <a:r>
              <a:t>IoT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CE6EE"/>
                </a:solidFill>
              </a:defRPr>
            </a:pPr>
            <a:r>
              <a:t>ESP32 • Environmental Sensors • Live Dashboard •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CD6C7"/>
                </a:solidFill>
              </a:defRPr>
            </a:pPr>
            <a:r>
              <a:t>PROJECT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9509760" y="914400"/>
            <a:ext cx="1143000" cy="1143000"/>
          </a:xfrm>
          <a:prstGeom prst="ellipse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2057400"/>
            <a:ext cx="685800" cy="685800"/>
          </a:xfrm>
          <a:prstGeom prst="ellipse">
            <a:avLst/>
          </a:prstGeom>
          <a:solidFill>
            <a:srgbClr val="4CD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52560" y="28346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4"/>
                </a:solidFill>
                <a:latin typeface="Aptos Display"/>
              </a:defRPr>
            </a:pPr>
            <a:r>
              <a:t>01  |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9691"/>
                </a:solidFill>
                <a:latin typeface="Aptos"/>
              </a:defRPr>
            </a:pPr>
            <a:r>
              <a:t>Why monitor air quality?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572000" cy="356616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Air pollution can affect human health and the environment.</a:t>
            </a:r>
          </a:p>
          <a:p>
            <a:pPr>
              <a:spcAft>
                <a:spcPts val="13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A monitoring system measures key air-quality indicators.</a:t>
            </a:r>
          </a:p>
          <a:p>
            <a:pPr>
              <a:spcAft>
                <a:spcPts val="1300"/>
              </a:spcAft>
              <a:defRPr sz="2000">
                <a:solidFill>
                  <a:srgbClr val="2A343E"/>
                </a:solidFill>
                <a:latin typeface="Aptos"/>
              </a:defRPr>
            </a:pPr>
            <a:r>
              <a:t>IoT makes readings easier to view and share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303520" cy="4389120"/>
          </a:xfrm>
          <a:prstGeom prst="round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4480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9691"/>
                </a:solidFill>
              </a:defRPr>
            </a:pPr>
            <a: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514600"/>
            <a:ext cx="4434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62C44"/>
                </a:solidFill>
              </a:defRPr>
            </a:pPr>
            <a:r>
              <a:t>Build an affordable connected monitor that displays environmental readings and alerts users when configured thresholds are exceeded.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01400" y="63276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62C44"/>
                </a:solidFill>
              </a:defRPr>
            </a:pPr>
            <a: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4"/>
                </a:solidFill>
                <a:latin typeface="Aptos Display"/>
              </a:defRPr>
            </a:pPr>
            <a:r>
              <a:t>02  |  Components &amp;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9691"/>
                </a:solidFill>
                <a:latin typeface="Aptos"/>
              </a:defRPr>
            </a:pPr>
            <a:r>
              <a:t>Main hardware and software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ESP32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Controller + Wi-Fi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PMS9103M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Particulate matter: PM1.0, PM2.5, PM10*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MQ-135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Gas / air-quality response*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9260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DHT11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Temperature + humidity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LCD + LEDs + buzzer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5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Local readings and 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43484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57200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9691"/>
                </a:solidFill>
              </a:defRPr>
            </a:pPr>
            <a:r>
              <a:t>Web dashboard / Telegram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37759"/>
            <a:ext cx="4754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343E"/>
                </a:solidFill>
              </a:defRPr>
            </a:pPr>
            <a:r>
              <a:t>Remote monitoring and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F6973"/>
                </a:solidFill>
              </a:defRPr>
            </a:pPr>
            <a:r>
              <a:t>*Sensor readings need suitable calibration; MQ-135 is not a certified AQI instrument.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01400" y="63276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62C44"/>
                </a:solidFill>
              </a:defRPr>
            </a:pPr>
            <a: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4"/>
                </a:solidFill>
                <a:latin typeface="Aptos Display"/>
              </a:defRPr>
            </a:pPr>
            <a:r>
              <a:t>03  | 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9691"/>
                </a:solidFill>
                <a:latin typeface="Aptos"/>
              </a:defRPr>
            </a:pPr>
            <a:r>
              <a:t>From sensor readings to useful information</a:t>
            </a:r>
          </a:p>
        </p:txBody>
      </p:sp>
      <p:sp>
        <p:nvSpPr>
          <p:cNvPr id="4" name="Oval 3"/>
          <p:cNvSpPr/>
          <p:nvPr/>
        </p:nvSpPr>
        <p:spPr>
          <a:xfrm>
            <a:off x="1417320" y="1645920"/>
            <a:ext cx="777240" cy="777240"/>
          </a:xfrm>
          <a:prstGeom prst="ellipse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81965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2C44"/>
                </a:solidFill>
              </a:defRPr>
            </a:pPr>
            <a:r>
              <a:t>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A343E"/>
                </a:solidFill>
              </a:defRPr>
            </a:pPr>
            <a:r>
              <a:t>Sensors collect particulate, gas-response, temperature and humidity data.</a:t>
            </a:r>
          </a:p>
        </p:txBody>
      </p:sp>
      <p:sp>
        <p:nvSpPr>
          <p:cNvPr id="8" name="Chevron 7"/>
          <p:cNvSpPr/>
          <p:nvPr/>
        </p:nvSpPr>
        <p:spPr>
          <a:xfrm>
            <a:off x="3108960" y="1874519"/>
            <a:ext cx="411480" cy="320040"/>
          </a:xfrm>
          <a:prstGeom prst="chevron">
            <a:avLst/>
          </a:prstGeom>
          <a:solidFill>
            <a:srgbClr val="A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645920"/>
            <a:ext cx="777240" cy="777240"/>
          </a:xfrm>
          <a:prstGeom prst="ellipse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1965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651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2C44"/>
                </a:solidFill>
              </a:defRPr>
            </a:pPr>
            <a: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A343E"/>
                </a:solidFill>
              </a:defRPr>
            </a:pPr>
            <a:r>
              <a:t>The ESP32 reads the sensors and applies the programmed logic.</a:t>
            </a:r>
          </a:p>
        </p:txBody>
      </p:sp>
      <p:sp>
        <p:nvSpPr>
          <p:cNvPr id="13" name="Chevron 12"/>
          <p:cNvSpPr/>
          <p:nvPr/>
        </p:nvSpPr>
        <p:spPr>
          <a:xfrm>
            <a:off x="5989320" y="1874519"/>
            <a:ext cx="411480" cy="320040"/>
          </a:xfrm>
          <a:prstGeom prst="chevron">
            <a:avLst/>
          </a:prstGeom>
          <a:solidFill>
            <a:srgbClr val="A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1645920"/>
            <a:ext cx="777240" cy="777240"/>
          </a:xfrm>
          <a:prstGeom prst="ellipse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81965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2C44"/>
                </a:solidFill>
              </a:defRPr>
            </a:pPr>
            <a: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A343E"/>
                </a:solidFill>
              </a:defRPr>
            </a:pPr>
            <a:r>
              <a:t>The LCD and web dashboard show the latest measurements.</a:t>
            </a:r>
          </a:p>
        </p:txBody>
      </p:sp>
      <p:sp>
        <p:nvSpPr>
          <p:cNvPr id="18" name="Chevron 17"/>
          <p:cNvSpPr/>
          <p:nvPr/>
        </p:nvSpPr>
        <p:spPr>
          <a:xfrm>
            <a:off x="8869680" y="1874519"/>
            <a:ext cx="411480" cy="320040"/>
          </a:xfrm>
          <a:prstGeom prst="chevron">
            <a:avLst/>
          </a:prstGeom>
          <a:solidFill>
            <a:srgbClr val="A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1645920"/>
            <a:ext cx="777240" cy="777240"/>
          </a:xfrm>
          <a:prstGeom prst="ellipse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819656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6517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2C44"/>
                </a:solidFill>
              </a:defRPr>
            </a:pPr>
            <a: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0"/>
            <a:ext cx="2468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2A343E"/>
                </a:solidFill>
              </a:defRPr>
            </a:pPr>
            <a:r>
              <a:t>LEDs, buzzer or Telegram notifications can indicate configured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1208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645A4B"/>
                </a:solidFill>
              </a:defRPr>
            </a:pPr>
            <a:r>
              <a:t>Important: sensor outputs are not automatically official AQI values. AQI calculation requires appropriate pollutant measurements, calibration and the applicable CPCB method.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01400" y="63276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62C44"/>
                </a:solidFill>
              </a:defRPr>
            </a:pPr>
            <a: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62C44"/>
                </a:solidFill>
                <a:latin typeface="Aptos Display"/>
              </a:defRPr>
            </a:pPr>
            <a:r>
              <a:t>04  |  CPCB Air Quality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9691"/>
                </a:solidFill>
                <a:latin typeface="Aptos"/>
              </a:defRPr>
            </a:pPr>
            <a:r>
              <a:t>AQI categories shown in the supplied reference image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39" y="1417320"/>
            <a:ext cx="6552521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23960" y="1417320"/>
            <a:ext cx="2743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8280" y="173736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9691"/>
                </a:solidFill>
              </a:defRPr>
            </a:pPr>
            <a:r>
              <a:t>AQI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2240280"/>
            <a:ext cx="233172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Good: 0–50</a:t>
            </a:r>
          </a:p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Satisfactory: 51–100</a:t>
            </a:r>
          </a:p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Moderate: 101–200</a:t>
            </a:r>
          </a:p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Poor: 201–300</a:t>
            </a:r>
          </a:p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Very Poor: 301–400</a:t>
            </a:r>
          </a:p>
          <a:p>
            <a:pPr>
              <a:spcAft>
                <a:spcPts val="1300"/>
              </a:spcAft>
              <a:defRPr sz="1300">
                <a:solidFill>
                  <a:srgbClr val="2A343E"/>
                </a:solidFill>
                <a:latin typeface="Aptos"/>
              </a:defRPr>
            </a:pPr>
            <a:r>
              <a:t>Severe: 401–500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807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5A646E"/>
                </a:solidFill>
              </a:defRPr>
            </a:pPr>
            <a:r>
              <a:t>Note: these are the categories in the supplied image; sensor values from this prototype should not be presented as official CPCB AQI without validated measurements and calculation.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9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01400" y="632764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62C44"/>
                </a:solidFill>
              </a:defRPr>
            </a:pPr>
            <a: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